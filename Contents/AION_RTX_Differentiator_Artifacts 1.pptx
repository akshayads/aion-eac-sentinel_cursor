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 |  DIFFERENTIATOR ARTIFACT  |  RTX-EOS-RFP-2026-0111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Flow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051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051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105156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1051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051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105156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1051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4920" y="1051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3520" y="105156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0" y="1051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1051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49440" y="105156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1051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17373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1792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Empathise + Define (1 day)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01168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operators. Document pain from the floor. Frame as user need: 'Inspector needs blade status in 30s' not 'deploy CV.'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7373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737360"/>
            <a:ext cx="45720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792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 (full day)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201168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teams. Concepts ranked by operator feasibility, not technical elegance. Operators vote on what to build.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26517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2651760"/>
            <a:ext cx="45720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2706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(1-2 weeks)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292608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on AI Force. Not a slide. Not a wireframe. A thing that runs. RTX co-secondee embedded in the build.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6517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651760"/>
            <a:ext cx="45720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706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(1 week)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292608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test in real environment. If they reject it, the design changes. Not the operators. Output: go / no-go / iterate verdict.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118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(M1-3): 3-5/wk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 + first sessions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100+ use cases scored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(M4-12): 2-3/wk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priority use cases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prototypes tested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(M13-24): 1-2/wk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 co-facilitating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more + capability transfer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(M25-36): as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RTX-led, HCL advisory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 independently running 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Text 40"/>
          <p:cNvSpPr/>
          <p:nvPr/>
        </p:nvSpPr>
        <p:spPr>
          <a:xfrm>
            <a:off x="36576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No use case moves to pilot without operator verdict. No pilot moves to production without Steering Committee sign-off.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 |  DIFFERENTIATOR ARTIFACT  |  RTX-EOS-RFP-2026-0111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Discovery Questionnaire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Phase 0 discovery workshops. One questionnaire per candidate use case. Completed by RTX domain owner + HCL facilitator.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292608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4-P Mapping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the business problem?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 language. What hurts?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people affected?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users + downstream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People (P1): 1-10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this be codified into rules?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 = high, judgment = low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Programmability (P2): 1-10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time/cost per occurrence?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Hours, FTEs, defect rates, $/unit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Productivity (P3): 1-10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Accuracy/quality level required?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Safety-critical = 99.9%, advisory = 80%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(P4): 1-10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data exists today?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Structured/unstructured, volume, quality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readiness: H/M/L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RTX systems involved?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SAP, PLM, MES, ServiceNow, etc.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complexity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annual value?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saved, revenue, risk, time freed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$M per year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tier?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 (safety), 2 (financial), 3 (advisory)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level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business owner?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individual with pilot authority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 type?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 / Reshape / Invent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Risk/reward profile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in 90 days?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Measurable Quick Win outcome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 Score = People x Programmability x Productivity x Precision  |  Range: 1-10,000  |  Top quartile (&gt;3,000) prioritised for Phase 1  |  Portfolio: 60% Deploy, 25% Reshape, 15% Invent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 |  DIFFERENTIATOR ARTIFACT  |  RTX-EOS-RFP-2026-0111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&amp; Governance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1480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106424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Steering Committee (Monthly)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325880"/>
            <a:ext cx="38953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Chair: RTX CEO/COO. Members: HCL Engagement Partner, CFO, CTO, CDO. Authority: wave transitions, budget &gt;5%, scope, vendors. Output: signed gate approvals.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1106424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 Reviews (Quarterly)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1325880"/>
            <a:ext cx="38953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AI outcomes to RTX KPIs: GTF turnaround, backlog conversion, IT budget ratio, adoption scores, shareholder-reportable AI value. Board-ready briefing packs.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68880"/>
            <a:ext cx="45720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237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monitors programme health. Predicts delivery risks, flags bottlenecks, optimises sprint planning from historical velocity.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468880"/>
            <a:ext cx="45720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5237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Briefings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743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packs for board, segment presidents, key stakeholders. Tailored to priorities. Board-ready language.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246888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468880"/>
            <a:ext cx="45720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5237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Measurement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2743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independent verification. Third-party auditor for financials. HCL single point of accountability.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661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08760"/>
                <a:gridCol w="1508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Steering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HCL Prog Dir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CoE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HCL Delivery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transition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change &gt;5%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model release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 incident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36576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Accountable  |  R = Responsible  |  C = Consulted  |  I = Informed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 |  DIFFERENTIATOR ARTIFACT  |  RTX-EOS-RFP-2026-0111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Co-Design &amp; Reverse Mentoring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74320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1064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Shadow &amp; listen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32588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engineers on the factory floor, MRO shop, inspection station. Watch, ask, document. No laptops. No presentations.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1064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Co-create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32588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define 'good.' Engineers figure out how. If operator says 'this doesn't help,' response is 'show me what would.'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74320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44768" y="11064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 &amp; iterate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44768" y="132588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environment, real data. Operator has veto power. If no-go, design changes. Not the operators.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31720"/>
            <a:ext cx="45720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386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Mentoring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60604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digital-natives paired with experienced operators. Junior teaches AI tools. Operator teaches domain knowledge + 20 years of judgment. Both learn. Breaks 'IT vs. operations' divide. Target: 100+ pairs by M12.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31720"/>
            <a:ext cx="45720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386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Segmentation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60604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Champions: advanced access, success stories. Pragmatists: before/after demos, peer testimonials. Skeptics: co-design workshops, their expertise shapes AI. Resistors: 1:1 engagement, role evolution with HR.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2011680" cy="5943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(6mo)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0" y="3749040"/>
            <a:ext cx="2011680" cy="5943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56032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Mentoring pairs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749040"/>
            <a:ext cx="2011680" cy="5943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75488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certified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49440" y="3749040"/>
            <a:ext cx="2011680" cy="5943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94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245K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49440" y="4069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Awareness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 |  DIFFERENTIATOR ARTIFACT  |  RTX-EOS-RFP-2026-0111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of Excellence: Internal AI Consulting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743200" cy="502920"/>
          </a:xfrm>
          <a:prstGeom prst="rect">
            <a:avLst/>
          </a:prstGeom>
          <a:solidFill>
            <a:srgbClr val="546E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Embedded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051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HCL / 20% RTX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54680" y="105156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50292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P2: Hybrid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051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HCL / 60% RTX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80760" y="105156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P3: Independent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1051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HCL / 80%+ RTX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73736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737360"/>
            <a:ext cx="4572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792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intake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011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submit AI requests. CoE scores using 4-P, assigns to Pod, tracks through IMPACT lifecycle.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73736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737360"/>
            <a:ext cx="4572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792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governance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011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approves models for production. Monitors bias/drift. Manages registry. Enforces ethical AI.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6060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06040"/>
            <a:ext cx="4572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660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Playbook (Month 12)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8803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projects start, develop, test, deploy, monitor, retire at RTX. The single reference.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606040"/>
            <a:ext cx="4572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660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certification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28803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L1/L2/L3 programmes. 50+ certified by M30. Quarterly refreshers. Competency assessments.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 Engineers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development, fine-tuning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Engineers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Pipeline, data quality, MDM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Manager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 prioritisation, roadmap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Manager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Adoption, training, comms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Ethics Officer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Bias, fairness, responsible AI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MLOps Engineer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Deploy, monitor, drift detection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certified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 |  DIFFERENTIATOR ARTIFACT  |  RTX-EOS-RFP-2026-0111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Operating Model &amp; Benchmarking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743200" cy="8229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69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AI-automated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Routine. L1 tickets, journal matching, parts reorder. Tier 3.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8229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69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recommends, human decides. Pricing, EAC, scheduling. Tier 2.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8229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69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provides data, no recommendation. Safety-critical, classified. Tier 1.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role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impact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Evolved role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inspector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 handles 80% visual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quality engineer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analyst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automates close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insights analyst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helpdesk L1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 tickets deflected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issue specialist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estimator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AI-augmented costing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pricing analyst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 planner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predicts demand +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 strategist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34747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474720"/>
            <a:ext cx="45720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529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Benchmarking (Quarterly)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374904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Boeing, Lockheed, Northrop, Airbus, BAE doing with AI? HCL brings cross-industry insight from 25+ enterprise AI engagements. Quarterly briefing to RTX leadership.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63440" y="34747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3474720"/>
            <a:ext cx="45720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3529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Tech Scouting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374904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 for materials simulation, physical AI for manufacturing, generative design for aerostructures, autonomous inspection systems. Annual Technology Futures Report.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743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 |  DIFFERENTIATOR ARTIFACT  |  RTX-EOS-RFP-2026-0111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"/>
            <a:ext cx="1188720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AI Dashboard &amp; Adoption Heatmap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600200" cy="5486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in prod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1600200" cy="5486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129844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delivered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40480" y="1005840"/>
            <a:ext cx="1600200" cy="5486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129844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adoption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577840" y="1005840"/>
            <a:ext cx="1600200" cy="5486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129844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ROI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0" y="1005840"/>
            <a:ext cx="1600200" cy="5486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129844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incidents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UCs live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YTD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Defence Programs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Ops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&amp; Safety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663440" y="169164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1691640"/>
            <a:ext cx="45720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1746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0600" y="1965960"/>
            <a:ext cx="38862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Defence Programs at 68%: additional co-design workshops for classified users.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HR &amp; Safety at 65%: expand clearance pipeline optimiser to contractor onboarding.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Phase 3 investment opportunity: physical AI for additive manufacturing quality.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65760" y="3657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Heatmap (500+ facilities)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" y="3977640"/>
            <a:ext cx="1143000" cy="6400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6576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65760" y="4315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Collins US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600200" y="3977640"/>
            <a:ext cx="1143000" cy="64008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60020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600200" y="4315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Collins EU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2834640" y="3977640"/>
            <a:ext cx="1143000" cy="6400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283464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834640" y="4315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P&amp;W US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4069080" y="3977640"/>
            <a:ext cx="1143000" cy="640080"/>
          </a:xfrm>
          <a:prstGeom prst="rect">
            <a:avLst/>
          </a:prstGeom>
          <a:solidFill>
            <a:srgbClr val="66BB6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406908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069080" y="4315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P&amp;W EU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303520" y="3977640"/>
            <a:ext cx="1143000" cy="640080"/>
          </a:xfrm>
          <a:prstGeom prst="rect">
            <a:avLst/>
          </a:prstGeom>
          <a:solidFill>
            <a:srgbClr val="A5D6A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30352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03520" y="4315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P&amp;W Asia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6537960" y="3977640"/>
            <a:ext cx="1143000" cy="640080"/>
          </a:xfrm>
          <a:prstGeom prst="rect">
            <a:avLst/>
          </a:prstGeom>
          <a:solidFill>
            <a:srgbClr val="EF6C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53796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37960" y="4315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Raytheon US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7772400" y="3977640"/>
            <a:ext cx="1143000" cy="64008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777240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772400" y="4315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Raytheon Intl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365760" y="4709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Green: 80%+ (target met)  |  Amber: 60-79% (on track)  |  Red: &lt;60% (action needed)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AION Differentiator Artifacts for RTX Corporation</dc:title>
  <dc:subject>PptxGenJS Presentation</dc:subject>
  <dc:creator>HCL Technologies - Team AION</dc:creator>
  <cp:lastModifiedBy>HCL Technologies - Team AION</cp:lastModifiedBy>
  <cp:revision>1</cp:revision>
  <dcterms:created xsi:type="dcterms:W3CDTF">2026-04-09T15:50:01Z</dcterms:created>
  <dcterms:modified xsi:type="dcterms:W3CDTF">2026-04-09T15:50:01Z</dcterms:modified>
</cp:coreProperties>
</file>