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AION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era of enterprise AI transformation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82880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RTX Corporation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Collins Aerospace  |  Pratt &amp; Whitney  |  Raytheon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Technologies  |  Defence Day  |  April 18,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RTX-EOS-RFP-2026-0111  |  $300-500M  |  36 Months  |  STRICTLY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7315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80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280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Understanding of RTX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280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on a 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Methodology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1488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 &amp;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1488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&amp; References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0632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8328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4904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9776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4023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Strategy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91840" y="39776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83280" y="4023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74904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 &amp; ROI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977640"/>
            <a:ext cx="2651760" cy="731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17920" y="4023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8368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835 aircraft grounded. 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$6-7B in GTF costs. 250-day inspection backlog. $200M ITAR penalties. 500+ fragmented apps eating 62% of IT budget.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does not need another AI pilot. It needs an operating system for decisions.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4300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12848"/>
            <a:ext cx="1143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143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5-yr return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91640" y="2194560"/>
            <a:ext cx="114300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2212848"/>
            <a:ext cx="1143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514600"/>
            <a:ext cx="1143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0" y="2194560"/>
            <a:ext cx="114300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2212848"/>
            <a:ext cx="1143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26080" y="2514600"/>
            <a:ext cx="1143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60520" y="2194560"/>
            <a:ext cx="114300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60520" y="2212848"/>
            <a:ext cx="1143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60520" y="2514600"/>
            <a:ext cx="1143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94960" y="2194560"/>
            <a:ext cx="114300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2212848"/>
            <a:ext cx="1143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514600"/>
            <a:ext cx="1143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29400" y="2194560"/>
            <a:ext cx="114300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2212848"/>
            <a:ext cx="1143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29400" y="2514600"/>
            <a:ext cx="1143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63840" y="2194560"/>
            <a:ext cx="114300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63840" y="2212848"/>
            <a:ext cx="11430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63840" y="2514600"/>
            <a:ext cx="1143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layers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632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the estate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3410712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apps to 120-180. SAP ECC to S/4HANA. 250K OT tags connected.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06040" y="30632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5" name="Text 33"/>
          <p:cNvSpPr/>
          <p:nvPr/>
        </p:nvSpPr>
        <p:spPr>
          <a:xfrm>
            <a:off x="2770632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layer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70632" y="3410712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to Level 4. 6 domain agents. HCL AI Force. Tier 1/2/3 governance.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632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Self-sufficiency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3410712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80%+ RTX-owned Month 36. 50+ AI practitioners. AI Playbook.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03720" y="306324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30632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3" name="Text 41"/>
          <p:cNvSpPr/>
          <p:nvPr/>
        </p:nvSpPr>
        <p:spPr>
          <a:xfrm>
            <a:off x="7068312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68312" y="3410712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$2.2B value. 18-mo payback. 20% fee at risk. 40/40/20 pricing.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Understanding of RTX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RTX needs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54864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fragmentation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764792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standalone apps. No single source of truth. PLM, CRM, HR, ITSM all disconnected.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54864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tech debt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764792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ERP instances from UTC-Raytheon merger. 62% IT budget on maintenance. 600+ custom programs.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06040"/>
            <a:ext cx="54864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OT/IT disconnect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2953512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250,000+ tags across 500+ facilities. Classified boundary challenges. Disconnected from enterprise AI.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06040"/>
            <a:ext cx="54864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operating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2953512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maturity. Disconnected POCs. No governance. No model lifecycle management.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94760"/>
            <a:ext cx="54864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867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GTF engine crisis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4142232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835 grounded. $6-7B costs. 250-day backlog. P&amp;W ML oil analysis sitting in a silo.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94760"/>
            <a:ext cx="54864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3867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pressure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4142232"/>
            <a:ext cx="3840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ITAR, CMMC, DFARS, SOX, CAS, NIST 800-171. No structured AI governance exists today.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on a Page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155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P0: Discovery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74520" y="1097280"/>
            <a:ext cx="256032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1155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Core 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13258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M4-12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25603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155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P2: Scale &amp; Optimise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3258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M13-24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86600" y="1097280"/>
            <a:ext cx="219456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1155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P3: Autonomy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1325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M25-36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1645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1691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L7: Experience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48840" y="1691640"/>
            <a:ext cx="6537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16916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cockpits, AR/VR MRO, voice SAP, board dashboard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1645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103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L6: Integration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48840" y="2103120"/>
            <a:ext cx="6537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1031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gateway, event mesh, SIPR boundary adapters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514600"/>
            <a:ext cx="1645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514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L5: Agentic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48840" y="2514600"/>
            <a:ext cx="6537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2514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domain AI agents with bounded autonomy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1645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29260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L4: AI/ML Core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48840" y="2926080"/>
            <a:ext cx="6537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2926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training, MLOps, model registry, drift detection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1645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337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Data Platform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148840" y="3337560"/>
            <a:ext cx="6537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33375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Lakehouse, RAG, ITAR data mesh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1645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OT/IT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48840" y="3749040"/>
            <a:ext cx="6537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3749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250K tags, MES, test cells connected via OPC-UA/MQTT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160520"/>
            <a:ext cx="16459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160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Infrastructure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48840" y="4160520"/>
            <a:ext cx="6537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40280" y="41605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Gov + AWS GovCloud + edge, sub-10ms latency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$60-80M (Y1)  |  $120-180M (Y2-3)  |  $120-180M (Y4-5)  |  Total: $300-500M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Methodology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Lifecycle  |  One-Pizza Agentic Pods  |  Design Thinking Workshops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280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12801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27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352" y="19933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221992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mining, 4-P scoring, use case prioritisation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74520" y="1508760"/>
            <a:ext cx="1280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74520" y="1508760"/>
            <a:ext cx="12801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1527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7672" y="19933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47672" y="2221992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thinking, prototype, operator co-design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1508760"/>
            <a:ext cx="1280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508760"/>
            <a:ext cx="12801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527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64992" y="19933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2221992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AI on real data, operator testing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1508760"/>
            <a:ext cx="1280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508760"/>
            <a:ext cx="12801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527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82312" y="19933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2221992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production, integrate with enterprise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1508760"/>
            <a:ext cx="1280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508760"/>
            <a:ext cx="12801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527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99632" y="19933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9632" y="2221992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1/2/3 governance, bias testing, security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43800" y="1508760"/>
            <a:ext cx="1280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43800" y="1508760"/>
            <a:ext cx="12801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7543800" y="1527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616952" y="19933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16952" y="2221992"/>
            <a:ext cx="1133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management, adoption, CoE handover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20040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Workshops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" y="3547872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 case starts with operators. 5 phases: Empathise, Define, Ideate, Prototype, Test. If operators reject it, the design changes. Not the operators. One-page use case briefs for Steering Committee.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200400"/>
            <a:ext cx="3977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20040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3" name="Text 41"/>
          <p:cNvSpPr/>
          <p:nvPr/>
        </p:nvSpPr>
        <p:spPr>
          <a:xfrm>
            <a:off x="4873752" y="32735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One-Pizza Agentic Pods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73752" y="3547872"/>
            <a:ext cx="3703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person cross-functional teams: architect, AI engineer, domain SME, RTX co-secondee, QA, change lead. 12-16 week sprints. No use case exits Pilot without Steering Committee sign-off.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Pursuit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6126480" cy="7315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1887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Director, Industry Partner Lead, Commercial Lead, Solution Architect, Program Manager, Bid Manager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01168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&amp; Delivery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103120"/>
            <a:ext cx="6126480" cy="7315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1031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Expert, Industry Expert, Technical Lead, Change Manager, Delivery Manager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01168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3017520"/>
            <a:ext cx="6126480" cy="7315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0175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Engineer, Data Engineer, Backend, Frontend, Cloud/DevOps, QA Engineer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2011680" cy="7315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31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 &amp; Change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3931920"/>
            <a:ext cx="6126480" cy="73152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3931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Lead, RFP Writer, Artifacts Lead, Demo Lead, Crowd Energiser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of Excellence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45720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(M1-12): 80% HCL / 20% RTX   |   Phase 2 (M13-24): 40% HCL / 60% RTX   |   Phase 3 (M25-36): 20% HCL / 80%+ RTX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Governance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Monthly. RTX CEO/COO + HCL Engagement Partner + CFO + CTO. Wave transitions, budget changes &gt;5%.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54864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Cadence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53619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RAID. Bi-weekly health reports. Monthly financial tracking. 24/7 dashboard.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Deployment 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290779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model: accuracy, bias testing, security validation, rollback plan, owner assignment. 90-day revalidation.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Measurement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90779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independent verification. Third-party auditor for financials. HCL single point of accountability.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matrix covers 7 decision types: wave transition, budget change, model release, scope change, vendor add/remove, Tier 1 incident, CoE phase transition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HCL Proprietary IP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Patented GenAI + Agentic AI platform. 25+ clients. Model-agnostic. On-prem ITAR-native.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1536192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 A&amp;D templates. 90% requirements out-of-box.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iMRO/4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1536192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add-on for MRO. Deployed HAESL Feb 2026. End-to-end lifecycle.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HANASmart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182112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ABAP to S/4HANA migration.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8346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8346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3456432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56432" y="3182112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intelligence. Pre-integrated with SAP Ariba + IBP.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346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3182112"/>
            <a:ext cx="2423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Intelligence Service AI. NLP for technical manuals, MRB, design artifacts.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Seven-Layer EOS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57400" y="1097280"/>
            <a:ext cx="5029200" cy="4572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 Experience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1097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cockpits, AR/VR, voice SAP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5980" y="1627632"/>
            <a:ext cx="4892040" cy="457200"/>
          </a:xfrm>
          <a:prstGeom prst="rect">
            <a:avLst/>
          </a:prstGeom>
          <a:solidFill>
            <a:srgbClr val="0079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63140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37660" y="16276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Kafka, SIPR adapters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2157984"/>
            <a:ext cx="4754880" cy="45720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21579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Agentic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1579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 agents, Agent Studio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63140" y="2688336"/>
            <a:ext cx="4617720" cy="45720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00300" y="26883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AI/ML 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74820" y="26883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Force, MLOps, registry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3218688"/>
            <a:ext cx="4480560" cy="4572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3218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Data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Lakehouse, RAG, data mesh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00300" y="3749040"/>
            <a:ext cx="4343400" cy="45720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3746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OT/IT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11980" y="3749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iMRO/4, 250K tags, 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4279392"/>
            <a:ext cx="4206240" cy="457200"/>
          </a:xfrm>
          <a:prstGeom prst="rect">
            <a:avLst/>
          </a:prstGeom>
          <a:solidFill>
            <a:srgbClr val="546E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06040" y="4279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Infrastructure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42793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Gov, edge, DGX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28016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Architecture Diagrams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as separate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on K4K: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As-Is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To-Be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Integration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Data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Security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&amp; 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61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HAESL (HK Aero Engine Services)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iMRO/4 deployment for Rolls-Royce Trent engine MRO. Live Feb 2026. Directly replicable for P&amp;W GTF.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313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Aerospace OEM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58775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transformation. 7x initial cost reduction objective. $700M+ in verified R&amp;D savings.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Collins Aerospace Santa Isabel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6393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quality AI. Inspection time 30 to 10 min. 14% output increase. Defect escapes halved.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1188720"/>
            <a:ext cx="2926080" cy="3200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Recognition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ISG Leader: all 4 A&amp;D quadrants (June 2025)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GSSP (highest tier globally)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23408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Expert MSP (all 21 specialisations)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6883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Premier Consulting Partner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3035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ITAR-compliant US centres (Butler Aerospace)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AS9100 / CMMI Level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3730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A&amp;D Engineering (Zinnov, 30+ years)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Use Cases by Domain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188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UCs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4-P: 5,670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GTF blade CV, missile QC, digital twin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88720"/>
            <a:ext cx="2743200" cy="36576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188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UCs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4-P: 3,072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risk, ITAR automator, Readiness-as-a-Service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1188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UCs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4-P: 3,024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close, EVMS, contract pricing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Programs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4-P: 2,800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 AI, SIPR agentic, EAC intelligence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017520"/>
            <a:ext cx="274320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Ops &amp; Cyber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UCs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9000" y="3474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4-P: 2,646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2900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helpdesk, SAP migrator, app rationalisation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017520"/>
            <a:ext cx="2743200" cy="36576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Safety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UCs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474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4-P: 1,250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 pipeline, retention, ITAR auditor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 Formula: AI Impact = People x Programmability x Productivity x Precision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Handle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IdentityNow. 185K+ employees. US-person-only for defence data.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8872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2152" y="153619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Varonis Data Security. Automated ITAR classification. Cross-border detection.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153619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 Falcon XDR. Nation-state cyber defence. IT and OT coverage.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Monitoring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27355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Prisma Cloud. Continuous CMMC + NIST 800-171 scanning.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92608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292608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3502152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Security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02152" y="327355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Force GRC. PII, toxicity, bias, prompt-injection scanning. 4 deployment modes.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92608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92608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327355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implicit trust. Every access verified. Classified/unclassified boundary enforced architecturally.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Handle Compliance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48463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HCL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Defence technical 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Varonis + SailPoint + Azure Gov + AI Force GRC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CMMC L2/L3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CUI (defence)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CrowdStrike + Palo Alto + NIST 800-171. C3PAO Nov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Defence acquisition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Force GRC audit trail + NDAA 1513 framework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NYSE financials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S/4HANA audit log + immutable CFO decision 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Defence cost accounting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PS + AI Force CAS compliance monitoring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AS9100/NADCAP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Aerospace quality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Siemens MES + NVIDIA CV + AS9100 checklists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NIST 800-171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CUI (110 controls)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controls mapped to EOS. XDR + IAM + GRC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Handle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Data 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lakehouse: Databricks Delta Lake + SAP BTP Data Intelligence. Ingests OT, transactional, PLM, HR, supply chain data.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ITAR Data Mesh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53619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mesh with cross-border controls. Varonis classification. No transfer without CPO + CTO approval.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Builder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18211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Force.Data RAG Builder for knowledge retrieval across technical manuals, MRB, design artifacts, service data.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Governance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18211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data audit. MDM established before any AI deployment. Data quality scores per domain.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for RTX Corporation  |  Enterprise AI Operating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 |  RTX-EOS-RFP-2026-0111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 &amp; ROI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Delivery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Milestone-based. No payment without sign-off.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743200" cy="10972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207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Outcome-Based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KPI-linked. Quarterly independent verification.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1097280"/>
          </a:xfrm>
          <a:prstGeom prst="rect">
            <a:avLst/>
          </a:prstGeom>
          <a:solidFill>
            <a:srgbClr val="EF6C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207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Gain-Share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3-band value sharing. Caps and floors per KPI.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46304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5-yr Benefit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Pessimistic (60%)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~28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(100%)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Optimistic (140%)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$60-80M (Year 1)  |  $120-180M (Years 2-3)  |  $120-180M (Years 4-5)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at 10% WACC. Benefits adjusted: 85% Deploy, 70% Reshape, 50% Invent plays.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Take Away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82880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05156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533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RTX's complexity is real. Three legacy cultures, 500+ apps, classified boundaries, and an engine crisis that demands speed. No generic approach survives contact with this reality.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A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54864" cy="105156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877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we exposed the team 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AI Force, Gemini Live (multimodal voice + vision), Coze Studio (agent orchestration), SAP AI Core, NVIDIA Omniverse, DataRobot MLOps. Every team member touched at least two.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8046720" cy="1051560"/>
          </a:xfrm>
          <a:prstGeom prst="rect">
            <a:avLst/>
          </a:prstGeom>
          <a:solidFill>
            <a:srgbClr val="1A2744"/>
          </a:solidFill>
          <a:ln w="6350">
            <a:solidFill>
              <a:srgbClr val="2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49040"/>
            <a:ext cx="54864" cy="105156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21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look forward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the end of a hackathon. It is the beginning of a deal. The architecture is real. The demo runs. The commercial model works. We are ready for Day 1 at RTX.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 |  HCL Technologies  |  The new era of enterprise AI transformation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AION Enterprise AI Operating System for RTX Corporation</dc:title>
  <dc:subject>PptxGenJS Presentation</dc:subject>
  <dc:creator>HCL Technologies - Team AION</dc:creator>
  <cp:lastModifiedBy>HCL Technologies - Team AION</cp:lastModifiedBy>
  <cp:revision>1</cp:revision>
  <dcterms:created xsi:type="dcterms:W3CDTF">2026-04-09T13:39:24Z</dcterms:created>
  <dcterms:modified xsi:type="dcterms:W3CDTF">2026-04-09T13:39:24Z</dcterms:modified>
</cp:coreProperties>
</file>